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6" r:id="rId5"/>
    <p:sldId id="258" r:id="rId6"/>
    <p:sldId id="267" r:id="rId7"/>
    <p:sldId id="268" r:id="rId8"/>
    <p:sldId id="269" r:id="rId9"/>
    <p:sldId id="270" r:id="rId10"/>
    <p:sldId id="271" r:id="rId11"/>
    <p:sldId id="272" r:id="rId12"/>
    <p:sldId id="259" r:id="rId13"/>
    <p:sldId id="273" r:id="rId14"/>
    <p:sldId id="274" r:id="rId15"/>
    <p:sldId id="264" r:id="rId16"/>
    <p:sldId id="265" r:id="rId17"/>
    <p:sldId id="280" r:id="rId18"/>
    <p:sldId id="275" r:id="rId19"/>
    <p:sldId id="281" r:id="rId20"/>
    <p:sldId id="277" r:id="rId21"/>
    <p:sldId id="278" r:id="rId22"/>
    <p:sldId id="276" r:id="rId23"/>
    <p:sldId id="279" r:id="rId24"/>
    <p:sldId id="262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73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18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384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09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1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83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316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65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1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68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5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369A7-499F-4E79-8635-5FE407C65A8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41AAD-10F8-4CA3-95AA-5B1D2EFEC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77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30305" y="2159626"/>
            <a:ext cx="9144000" cy="2387600"/>
          </a:xfrm>
        </p:spPr>
        <p:txBody>
          <a:bodyPr>
            <a:normAutofit/>
          </a:bodyPr>
          <a:lstStyle/>
          <a:p>
            <a:r>
              <a:rPr lang="ru-RU" b="1" dirty="0" smtClean="0"/>
              <a:t>Обращение матрицы </a:t>
            </a:r>
            <a:r>
              <a:rPr lang="en-US" b="1" dirty="0" smtClean="0"/>
              <a:t>2x2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6927" y="5953675"/>
            <a:ext cx="9144000" cy="1655762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dirty="0" smtClean="0"/>
              <a:t>Авторы:</a:t>
            </a:r>
          </a:p>
          <a:p>
            <a:pPr algn="l">
              <a:spcBef>
                <a:spcPts val="0"/>
              </a:spcBef>
            </a:pPr>
            <a:r>
              <a:rPr lang="ru-RU" dirty="0" smtClean="0"/>
              <a:t>Акимкин А.А</a:t>
            </a:r>
            <a:r>
              <a:rPr lang="ru-RU" dirty="0" smtClean="0"/>
              <a:t>.</a:t>
            </a: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6" y="126991"/>
            <a:ext cx="6941490" cy="363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2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580707" cy="1325563"/>
          </a:xfrm>
        </p:spPr>
        <p:txBody>
          <a:bodyPr/>
          <a:lstStyle/>
          <a:p>
            <a:r>
              <a:rPr lang="ru-RU" b="1" dirty="0" smtClean="0"/>
              <a:t>Схема работы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1) Алгоритм</a:t>
            </a:r>
          </a:p>
          <a:p>
            <a:r>
              <a:rPr lang="ru-RU" dirty="0" smtClean="0"/>
              <a:t>2) </a:t>
            </a:r>
            <a:r>
              <a:rPr lang="en-US" dirty="0" err="1" smtClean="0"/>
              <a:t>Vitis</a:t>
            </a:r>
            <a:endParaRPr lang="en-US" dirty="0" smtClean="0"/>
          </a:p>
          <a:p>
            <a:r>
              <a:rPr lang="ru-RU" dirty="0" smtClean="0"/>
              <a:t>3) </a:t>
            </a:r>
            <a:r>
              <a:rPr lang="en-US" dirty="0" err="1" smtClean="0"/>
              <a:t>Vivado</a:t>
            </a:r>
            <a:r>
              <a:rPr lang="en-US" dirty="0" smtClean="0"/>
              <a:t> </a:t>
            </a:r>
            <a:r>
              <a:rPr lang="ru-RU" dirty="0" smtClean="0"/>
              <a:t>и Блок-дизайн</a:t>
            </a:r>
          </a:p>
          <a:p>
            <a:r>
              <a:rPr lang="ru-RU" dirty="0" smtClean="0"/>
              <a:t>4) Генерация </a:t>
            </a:r>
            <a:r>
              <a:rPr lang="en-US" dirty="0" err="1" smtClean="0"/>
              <a:t>bitstream</a:t>
            </a:r>
            <a:endParaRPr lang="en-US" dirty="0" smtClean="0"/>
          </a:p>
          <a:p>
            <a:r>
              <a:rPr lang="ru-RU" dirty="0" smtClean="0"/>
              <a:t>5)</a:t>
            </a:r>
            <a:r>
              <a:rPr lang="en-US" dirty="0" smtClean="0"/>
              <a:t>Python-</a:t>
            </a:r>
            <a:r>
              <a:rPr lang="ru-RU" dirty="0" smtClean="0"/>
              <a:t>скрипт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906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975" y="160338"/>
            <a:ext cx="10515600" cy="1325563"/>
          </a:xfrm>
        </p:spPr>
        <p:txBody>
          <a:bodyPr/>
          <a:lstStyle/>
          <a:p>
            <a:r>
              <a:rPr lang="ru-RU" b="1" dirty="0" smtClean="0"/>
              <a:t>Алгоритм</a:t>
            </a:r>
            <a:endParaRPr lang="ru-RU" b="1" dirty="0"/>
          </a:p>
        </p:txBody>
      </p:sp>
      <p:sp>
        <p:nvSpPr>
          <p:cNvPr id="4" name="AutoShape 2" descr="FZ5 EdgeBoard AI Box | AliExpres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81" y="1554219"/>
            <a:ext cx="10593278" cy="17814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48" y="4001294"/>
            <a:ext cx="6296904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2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2" y="237005"/>
            <a:ext cx="6306430" cy="62969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849" y="237005"/>
            <a:ext cx="616353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1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0672" y="159942"/>
            <a:ext cx="4793055" cy="1325563"/>
          </a:xfrm>
        </p:spPr>
        <p:txBody>
          <a:bodyPr/>
          <a:lstStyle/>
          <a:p>
            <a:r>
              <a:rPr lang="en-US" b="1" dirty="0" err="1" smtClean="0"/>
              <a:t>Vitis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1065736"/>
            <a:ext cx="10415451" cy="53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9560" y="496388"/>
            <a:ext cx="10515600" cy="4650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Заголовочные файлы и библиотеки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00297" y="1273145"/>
            <a:ext cx="8667501" cy="22826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1. </a:t>
            </a:r>
            <a:r>
              <a:rPr kumimoji="0" lang="ru-RU" altLang="ru-RU" sz="15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ap_int.h</a:t>
            </a:r>
            <a:r>
              <a:rPr kumimoji="0" lang="ru-RU" altLang="ru-RU" sz="15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kumimoji="0" lang="ru-RU" altLang="ru-RU" sz="15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ap_fixed.h</a:t>
            </a:r>
            <a:endParaRPr kumimoji="0" lang="ru-RU" altLang="ru-RU" sz="15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Что это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Библиотеки произвольной точности от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Xilinx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Для чего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Позволяют использовать целочисленные и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фиксированно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-точные типы данных с произвольной разрядностью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Интересно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В коде они подключены, но не используются (так как используется обычный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float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Где посмотреть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В документации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Vivado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HLS или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Vitis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HLS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363" y="164062"/>
            <a:ext cx="4354896" cy="153411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89560" y="4620549"/>
            <a:ext cx="5899372" cy="20056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2. </a:t>
            </a:r>
            <a:r>
              <a:rPr kumimoji="0" lang="ru-RU" altLang="ru-RU" sz="15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mat_inv.h</a:t>
            </a:r>
            <a:endParaRPr kumimoji="0" lang="ru-RU" altLang="ru-RU" sz="15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Что это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Мой собственный заголовочный файл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Для чего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Объявление функции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matrix_inverse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(создание интерфейса)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Синтаксис 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#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ifndef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/#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define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/#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endif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Защита от множественного включения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038" y="3340744"/>
            <a:ext cx="7962493" cy="198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8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606" y="591548"/>
            <a:ext cx="3219994" cy="13255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Директивы #</a:t>
            </a:r>
            <a:r>
              <a:rPr lang="ru-RU" b="1" dirty="0" err="1"/>
              <a:t>pragma</a:t>
            </a:r>
            <a:r>
              <a:rPr lang="ru-RU" b="1" dirty="0"/>
              <a:t> HLS</a:t>
            </a:r>
            <a:br>
              <a:rPr lang="ru-RU" b="1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599" y="2168729"/>
            <a:ext cx="376863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Это специальные инструкции для </a:t>
            </a:r>
            <a:r>
              <a:rPr lang="ru-RU" dirty="0" err="1"/>
              <a:t>Vivado</a:t>
            </a:r>
            <a:r>
              <a:rPr lang="ru-RU" dirty="0"/>
              <a:t> HLS, которые управляют синтезом аппаратуры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https://docs.amd.com/r/en-US/ug1399-vitis-hls/pragma-HLS-interface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194" y="267020"/>
            <a:ext cx="7575353" cy="587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9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8269" y="235684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Интерфейсы (</a:t>
            </a:r>
            <a:r>
              <a:rPr lang="en-US" b="1" dirty="0"/>
              <a:t>INTERFACE)</a:t>
            </a:r>
          </a:p>
          <a:p>
            <a:r>
              <a:rPr lang="ru-RU" b="1" dirty="0" err="1"/>
              <a:t>s_axilite</a:t>
            </a:r>
            <a:r>
              <a:rPr lang="ru-RU" dirty="0"/>
              <a:t>: Создает интерфейс AXI4-Lite - простой протокол для обмена данными с процессором</a:t>
            </a:r>
          </a:p>
          <a:p>
            <a:r>
              <a:rPr lang="ru-RU" b="1" dirty="0" err="1"/>
              <a:t>bundle</a:t>
            </a:r>
            <a:r>
              <a:rPr lang="ru-RU" b="1" dirty="0"/>
              <a:t>=CTRL</a:t>
            </a:r>
            <a:r>
              <a:rPr lang="ru-RU" dirty="0"/>
              <a:t>: Группирует все сигналы в один AXI-интерфейс</a:t>
            </a:r>
          </a:p>
          <a:p>
            <a:r>
              <a:rPr lang="ru-RU" b="1" dirty="0" err="1"/>
              <a:t>port</a:t>
            </a:r>
            <a:r>
              <a:rPr lang="ru-RU" b="1" dirty="0"/>
              <a:t>=</a:t>
            </a:r>
            <a:r>
              <a:rPr lang="ru-RU" b="1" dirty="0" err="1"/>
              <a:t>return</a:t>
            </a:r>
            <a:r>
              <a:rPr lang="ru-RU" dirty="0"/>
              <a:t>: Указывает, что возврат функции тоже через AXI-</a:t>
            </a:r>
            <a:r>
              <a:rPr lang="ru-RU" dirty="0" err="1"/>
              <a:t>Lite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722" y="379996"/>
            <a:ext cx="8540825" cy="157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3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9560" y="156120"/>
            <a:ext cx="10515600" cy="1325563"/>
          </a:xfrm>
        </p:spPr>
        <p:txBody>
          <a:bodyPr/>
          <a:lstStyle/>
          <a:p>
            <a:r>
              <a:rPr lang="ru-RU" b="1" dirty="0"/>
              <a:t>Оптимизации </a:t>
            </a:r>
            <a:r>
              <a:rPr lang="ru-RU" b="1" dirty="0" smtClean="0"/>
              <a:t>массивов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4692" y="4298860"/>
            <a:ext cx="10515600" cy="4351338"/>
          </a:xfrm>
        </p:spPr>
        <p:txBody>
          <a:bodyPr/>
          <a:lstStyle/>
          <a:p>
            <a:r>
              <a:rPr lang="ru-RU" sz="2400" b="1" dirty="0"/>
              <a:t>ARRAY_PARTITION</a:t>
            </a:r>
            <a:r>
              <a:rPr lang="ru-RU" sz="2400" dirty="0"/>
              <a:t>: Разбивает массивы на отдельные элементы</a:t>
            </a:r>
          </a:p>
          <a:p>
            <a:r>
              <a:rPr lang="ru-RU" sz="2400" b="1" dirty="0" err="1"/>
              <a:t>complete</a:t>
            </a:r>
            <a:r>
              <a:rPr lang="ru-RU" sz="2400" b="1" dirty="0"/>
              <a:t> </a:t>
            </a:r>
            <a:r>
              <a:rPr lang="ru-RU" sz="2400" b="1" dirty="0" err="1"/>
              <a:t>dim</a:t>
            </a:r>
            <a:r>
              <a:rPr lang="ru-RU" sz="2400" b="1" dirty="0"/>
              <a:t>=1</a:t>
            </a:r>
            <a:r>
              <a:rPr lang="ru-RU" sz="2400" dirty="0"/>
              <a:t>: Полностью разделяет первую размерность (строки матрицы)</a:t>
            </a:r>
          </a:p>
          <a:p>
            <a:r>
              <a:rPr lang="ru-RU" sz="2400" b="1" dirty="0"/>
              <a:t>Результат</a:t>
            </a:r>
            <a:r>
              <a:rPr lang="ru-RU" sz="2400" dirty="0"/>
              <a:t>: Каждый элемент матрицы становится отдельным портом ввода/вывода, что ускоряет доступ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74" y="1972836"/>
            <a:ext cx="10556379" cy="118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8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3766" y="190953"/>
            <a:ext cx="10515600" cy="1325563"/>
          </a:xfrm>
        </p:spPr>
        <p:txBody>
          <a:bodyPr/>
          <a:lstStyle/>
          <a:p>
            <a:r>
              <a:rPr lang="ru-RU" dirty="0" smtClean="0"/>
              <a:t>Тест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268" y="372701"/>
            <a:ext cx="5588899" cy="628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0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1557607"/>
            <a:ext cx="10869542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5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2152" y="254925"/>
            <a:ext cx="5281943" cy="1325563"/>
          </a:xfrm>
        </p:spPr>
        <p:txBody>
          <a:bodyPr/>
          <a:lstStyle/>
          <a:p>
            <a:r>
              <a:rPr lang="ru-RU" b="1" dirty="0" smtClean="0"/>
              <a:t>Экспорт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6295" y="1964962"/>
            <a:ext cx="3259054" cy="4351338"/>
          </a:xfrm>
        </p:spPr>
        <p:txBody>
          <a:bodyPr/>
          <a:lstStyle/>
          <a:p>
            <a:r>
              <a:rPr lang="ru-RU" dirty="0" smtClean="0"/>
              <a:t>БАГ: МЕНЯЙТЕ ВРЕМЯ НА КОМПЕ НИЖЕ ГОДА ВИТИСА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548" y="1782867"/>
            <a:ext cx="4610743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9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75" y="0"/>
            <a:ext cx="8131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0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Импорт </a:t>
            </a:r>
            <a:r>
              <a:rPr lang="en-US" dirty="0" smtClean="0"/>
              <a:t>IP-</a:t>
            </a:r>
            <a:r>
              <a:rPr lang="ru-RU" dirty="0" smtClean="0"/>
              <a:t>ядра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512" y="2134284"/>
            <a:ext cx="8040222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4394" y="278039"/>
            <a:ext cx="10515600" cy="1325563"/>
          </a:xfrm>
        </p:spPr>
        <p:txBody>
          <a:bodyPr/>
          <a:lstStyle/>
          <a:p>
            <a:r>
              <a:rPr lang="en-US" dirty="0" err="1" smtClean="0"/>
              <a:t>Vivado</a:t>
            </a:r>
            <a:r>
              <a:rPr lang="en-US" dirty="0" smtClean="0"/>
              <a:t> </a:t>
            </a:r>
            <a:r>
              <a:rPr lang="ru-RU" dirty="0" smtClean="0"/>
              <a:t>и Блок-Дизайн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94" y="1826348"/>
            <a:ext cx="11622122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9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144" y="0"/>
            <a:ext cx="74402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3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Конвертация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760617" y="2570092"/>
            <a:ext cx="78377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def</a:t>
            </a:r>
            <a:r>
              <a:rPr lang="ru-RU" sz="2400" dirty="0"/>
              <a:t> uint32_to_float(i):</a:t>
            </a:r>
          </a:p>
          <a:p>
            <a:r>
              <a:rPr lang="ru-RU" sz="2400" dirty="0"/>
              <a:t>    """Конвертируем uint32 в </a:t>
            </a:r>
            <a:r>
              <a:rPr lang="ru-RU" sz="2400" dirty="0" err="1"/>
              <a:t>float</a:t>
            </a:r>
            <a:r>
              <a:rPr lang="ru-RU" sz="2400" dirty="0"/>
              <a:t>"""</a:t>
            </a:r>
          </a:p>
          <a:p>
            <a:r>
              <a:rPr lang="ru-RU" sz="2400" dirty="0"/>
              <a:t>    </a:t>
            </a:r>
            <a:r>
              <a:rPr lang="ru-RU" sz="2400" dirty="0" err="1"/>
              <a:t>return</a:t>
            </a:r>
            <a:r>
              <a:rPr lang="ru-RU" sz="2400" dirty="0"/>
              <a:t> </a:t>
            </a:r>
            <a:r>
              <a:rPr lang="ru-RU" sz="2400" dirty="0" err="1"/>
              <a:t>struct.unpack</a:t>
            </a:r>
            <a:r>
              <a:rPr lang="ru-RU" sz="2400" dirty="0"/>
              <a:t>('f', </a:t>
            </a:r>
            <a:r>
              <a:rPr lang="ru-RU" sz="2400" dirty="0" err="1"/>
              <a:t>struct.pack</a:t>
            </a:r>
            <a:r>
              <a:rPr lang="ru-RU" sz="2400" dirty="0"/>
              <a:t>('I', i))[0]</a:t>
            </a:r>
          </a:p>
          <a:p>
            <a:endParaRPr lang="ru-RU" sz="2400" dirty="0"/>
          </a:p>
          <a:p>
            <a:r>
              <a:rPr lang="ru-RU" sz="2400" dirty="0" err="1"/>
              <a:t>def</a:t>
            </a:r>
            <a:r>
              <a:rPr lang="ru-RU" sz="2400" dirty="0"/>
              <a:t> float_to_uint32(f):</a:t>
            </a:r>
          </a:p>
          <a:p>
            <a:r>
              <a:rPr lang="ru-RU" sz="2400" dirty="0"/>
              <a:t>    """Конвертируем </a:t>
            </a:r>
            <a:r>
              <a:rPr lang="ru-RU" sz="2400" dirty="0" err="1"/>
              <a:t>float</a:t>
            </a:r>
            <a:r>
              <a:rPr lang="ru-RU" sz="2400" dirty="0"/>
              <a:t> в uint32"""</a:t>
            </a:r>
          </a:p>
          <a:p>
            <a:r>
              <a:rPr lang="ru-RU" sz="2400" dirty="0"/>
              <a:t>    </a:t>
            </a:r>
            <a:r>
              <a:rPr lang="ru-RU" sz="2400" dirty="0" err="1"/>
              <a:t>return</a:t>
            </a:r>
            <a:r>
              <a:rPr lang="ru-RU" sz="2400" dirty="0"/>
              <a:t> </a:t>
            </a:r>
            <a:r>
              <a:rPr lang="ru-RU" sz="2400" dirty="0" err="1"/>
              <a:t>struct.unpack</a:t>
            </a:r>
            <a:r>
              <a:rPr lang="ru-RU" sz="2400" dirty="0"/>
              <a:t>('I', </a:t>
            </a:r>
            <a:r>
              <a:rPr lang="ru-RU" sz="2400" dirty="0" err="1"/>
              <a:t>struct.pack</a:t>
            </a:r>
            <a:r>
              <a:rPr lang="ru-RU" sz="2400" dirty="0"/>
              <a:t>('f', f))[0]</a:t>
            </a:r>
          </a:p>
        </p:txBody>
      </p:sp>
    </p:spTree>
    <p:extLst>
      <p:ext uri="{BB962C8B-B14F-4D97-AF65-F5344CB8AC3E}">
        <p14:creationId xmlns:p14="http://schemas.microsoft.com/office/powerpoint/2010/main" val="428138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38" y="223687"/>
            <a:ext cx="4151741" cy="35384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4963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5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1481" y="-61555"/>
            <a:ext cx="10762462" cy="6606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Как использовать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Запись входных данных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: Запишите данные матрицы в Memory_A_0 и Memory_A_1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Запуск вычислений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: Установите бит 0 в регистре CTRL в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Ожидание завершения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: Проверяйте бит AP_DONE в регистре CTRL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Чтение результата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: Читайте данные из Memory_inv_A_0 и Memory_inv_A_1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Проверка успеха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: Читайте регистр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success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 для проверки корректности вычислений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	Это типичная структура для IP-ядра, сгенерированного через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Vivado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HLS, с стандартными регистрами управления и специализированными регистрами для передачи данных.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758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708" y="441253"/>
            <a:ext cx="6115904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5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771" y="1141118"/>
            <a:ext cx="6799588" cy="43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7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897" y="790525"/>
            <a:ext cx="10515600" cy="1325563"/>
          </a:xfrm>
        </p:spPr>
        <p:txBody>
          <a:bodyPr/>
          <a:lstStyle/>
          <a:p>
            <a:r>
              <a:rPr lang="ru-RU" b="1" dirty="0"/>
              <a:t>Расположение регистров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188" y="2313427"/>
            <a:ext cx="7201905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6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2039" y="1120229"/>
            <a:ext cx="10970623" cy="488868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# АДРЕСА ИЗ .</a:t>
            </a:r>
            <a:r>
              <a:rPr lang="en-US" dirty="0" err="1"/>
              <a:t>hwh</a:t>
            </a:r>
            <a:r>
              <a:rPr lang="en-US" dirty="0"/>
              <a:t> </a:t>
            </a:r>
            <a:r>
              <a:rPr lang="ru-RU" dirty="0"/>
              <a:t>файла (относительные к базовому адресу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  <a:p>
            <a:r>
              <a:rPr lang="en-US" sz="2400" dirty="0"/>
              <a:t>CTRL_REG = 0x00</a:t>
            </a:r>
          </a:p>
          <a:p>
            <a:r>
              <a:rPr lang="en-US" sz="2400" dirty="0"/>
              <a:t>A_0 = 0x10      # A[0][0] </a:t>
            </a:r>
            <a:r>
              <a:rPr lang="ru-RU" sz="2400" dirty="0"/>
              <a:t>и </a:t>
            </a:r>
            <a:r>
              <a:rPr lang="en-US" sz="2400" dirty="0"/>
              <a:t>A[0][1]</a:t>
            </a:r>
          </a:p>
          <a:p>
            <a:r>
              <a:rPr lang="en-US" sz="2400" dirty="0"/>
              <a:t>A_1 = 0x18      # A[1][0] </a:t>
            </a:r>
            <a:r>
              <a:rPr lang="ru-RU" sz="2400" dirty="0"/>
              <a:t>и </a:t>
            </a:r>
            <a:r>
              <a:rPr lang="en-US" sz="2400" dirty="0"/>
              <a:t>A[1][1]  </a:t>
            </a:r>
          </a:p>
          <a:p>
            <a:r>
              <a:rPr lang="en-US" sz="2400" dirty="0"/>
              <a:t>INV_A_0 = 0x20  # </a:t>
            </a:r>
            <a:r>
              <a:rPr lang="en-US" sz="2400" dirty="0" err="1"/>
              <a:t>inv_A</a:t>
            </a:r>
            <a:r>
              <a:rPr lang="en-US" sz="2400" dirty="0"/>
              <a:t>[0][0] </a:t>
            </a:r>
            <a:r>
              <a:rPr lang="ru-RU" sz="2400" dirty="0"/>
              <a:t>и </a:t>
            </a:r>
            <a:r>
              <a:rPr lang="en-US" sz="2400" dirty="0" err="1"/>
              <a:t>inv_A</a:t>
            </a:r>
            <a:r>
              <a:rPr lang="en-US" sz="2400" dirty="0"/>
              <a:t>[0][1]</a:t>
            </a:r>
          </a:p>
          <a:p>
            <a:r>
              <a:rPr lang="en-US" sz="2400" dirty="0"/>
              <a:t>INV_A_1 = 0x28  # </a:t>
            </a:r>
            <a:r>
              <a:rPr lang="en-US" sz="2400" dirty="0" err="1"/>
              <a:t>inv_A</a:t>
            </a:r>
            <a:r>
              <a:rPr lang="en-US" sz="2400" dirty="0"/>
              <a:t>[1][0] </a:t>
            </a:r>
            <a:r>
              <a:rPr lang="ru-RU" sz="2400" dirty="0"/>
              <a:t>и </a:t>
            </a:r>
            <a:r>
              <a:rPr lang="en-US" sz="2400" dirty="0" err="1"/>
              <a:t>inv_A</a:t>
            </a:r>
            <a:r>
              <a:rPr lang="en-US" sz="2400" dirty="0"/>
              <a:t>[1][1]</a:t>
            </a:r>
          </a:p>
          <a:p>
            <a:r>
              <a:rPr lang="en-US" sz="2400" dirty="0"/>
              <a:t>SUCCESS = 0x30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5066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76054" y="2347834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 dirty="0" smtClean="0"/>
              <a:t>Спасибо за внимание!</a:t>
            </a:r>
            <a:endParaRPr lang="ru-RU" sz="5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72757" y="376306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С радостью отвечу на вопросы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931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282</Words>
  <Application>Microsoft Office PowerPoint</Application>
  <PresentationFormat>Широкоэкранный</PresentationFormat>
  <Paragraphs>77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Menlo</vt:lpstr>
      <vt:lpstr>quote-cjk-patch</vt:lpstr>
      <vt:lpstr>Тема Office</vt:lpstr>
      <vt:lpstr>Обращение матрицы 2x2</vt:lpstr>
      <vt:lpstr>Схема работы</vt:lpstr>
      <vt:lpstr>Алгоритм</vt:lpstr>
      <vt:lpstr>Презентация PowerPoint</vt:lpstr>
      <vt:lpstr>Vitis</vt:lpstr>
      <vt:lpstr>Презентация PowerPoint</vt:lpstr>
      <vt:lpstr>Директивы #pragma HLS  </vt:lpstr>
      <vt:lpstr>Презентация PowerPoint</vt:lpstr>
      <vt:lpstr>Оптимизации массивов</vt:lpstr>
      <vt:lpstr>Тест</vt:lpstr>
      <vt:lpstr>Презентация PowerPoint</vt:lpstr>
      <vt:lpstr>Экспорт</vt:lpstr>
      <vt:lpstr>Презентация PowerPoint</vt:lpstr>
      <vt:lpstr>Импорт IP-ядра</vt:lpstr>
      <vt:lpstr>Vivado и Блок-Дизайн</vt:lpstr>
      <vt:lpstr>Презентация PowerPoint</vt:lpstr>
      <vt:lpstr>Конвертация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Расположение регистров 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SoC Zynq через PYNQ</dc:title>
  <dc:creator>ErterionJT</dc:creator>
  <cp:lastModifiedBy>Alex Akimkin</cp:lastModifiedBy>
  <cp:revision>10</cp:revision>
  <dcterms:created xsi:type="dcterms:W3CDTF">2025-05-26T09:36:01Z</dcterms:created>
  <dcterms:modified xsi:type="dcterms:W3CDTF">2025-11-28T04:54:59Z</dcterms:modified>
</cp:coreProperties>
</file>